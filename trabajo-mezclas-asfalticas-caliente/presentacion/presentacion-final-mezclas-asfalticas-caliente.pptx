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7">
              <a:alpha val="90000"/>
            </a:srgbClr>
          </a:solidFill>
          <a:ln w="12700">
            <a:solidFill>
              <a:srgbClr val="1B222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365760"/>
            <a:ext cx="6035040" cy="7680960"/>
          </a:xfrm>
          <a:prstGeom prst="trapezoid">
            <a:avLst/>
          </a:prstGeom>
          <a:solidFill>
            <a:srgbClr val="222B31"/>
          </a:solidFill>
          <a:ln w="12700">
            <a:solidFill>
              <a:srgbClr val="222B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3328416"/>
            <a:ext cx="195263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2430" y="3328416"/>
            <a:ext cx="195263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1060" y="3328416"/>
            <a:ext cx="195263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49690" y="3328416"/>
            <a:ext cx="195263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3328416"/>
            <a:ext cx="195263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86950" y="3328416"/>
            <a:ext cx="195263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55580" y="3328416"/>
            <a:ext cx="195263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24210" y="3328416"/>
            <a:ext cx="195263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502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C4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FINAL DE PAVIMENTOS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" y="1298448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Diseno de mezclas asfalticas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caliente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94944" y="278892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D5D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aplicado con estudio de trafico real Av. Santa Rosa y propuesta experimental del paquete estructural.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94944" y="3886200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954780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IMDA 91,033 veh/dia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61488" y="3886200"/>
            <a:ext cx="1298448" cy="310896"/>
          </a:xfrm>
          <a:prstGeom prst="roundRect">
            <a:avLst>
              <a:gd name="adj" fmla="val 14706"/>
            </a:avLst>
          </a:prstGeom>
          <a:solidFill>
            <a:srgbClr val="1E5E7E"/>
          </a:solidFill>
          <a:ln w="12700">
            <a:solidFill>
              <a:srgbClr val="1E5E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71216" y="395478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ESAL 46.10 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51960" y="3886200"/>
            <a:ext cx="1298448" cy="310896"/>
          </a:xfrm>
          <a:prstGeom prst="roundRect">
            <a:avLst>
              <a:gd name="adj" fmla="val 14706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61688" y="395478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A4: 8/50/40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13232" y="5074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9C4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Curso: [Completar]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9C4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Docente: [Completar]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9C4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Integrantes: [Completar]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9C4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Fecha: [Completar]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71232" y="1207008"/>
            <a:ext cx="3310128" cy="503652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35824" y="1600932"/>
            <a:ext cx="248412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2013" y="1600932"/>
            <a:ext cx="248412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28202" y="1600932"/>
            <a:ext cx="248412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24390" y="1600932"/>
            <a:ext cx="248412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20579" y="1600932"/>
            <a:ext cx="248412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35824" y="1376538"/>
            <a:ext cx="21184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CARPETA ASFALTICA EN CALIENTE</a:t>
            </a:r>
            <a:endParaRPr lang="en-US" sz="946" dirty="0"/>
          </a:p>
        </p:txBody>
      </p:sp>
      <p:sp>
        <p:nvSpPr>
          <p:cNvPr id="30" name="Text 28"/>
          <p:cNvSpPr/>
          <p:nvPr/>
        </p:nvSpPr>
        <p:spPr>
          <a:xfrm>
            <a:off x="9930018" y="1358250"/>
            <a:ext cx="7648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22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cm</a:t>
            </a:r>
            <a:endParaRPr lang="en-US" sz="1322" dirty="0"/>
          </a:p>
        </p:txBody>
      </p:sp>
      <p:sp>
        <p:nvSpPr>
          <p:cNvPr id="31" name="Shape 29"/>
          <p:cNvSpPr/>
          <p:nvPr/>
        </p:nvSpPr>
        <p:spPr>
          <a:xfrm>
            <a:off x="7571232" y="1710660"/>
            <a:ext cx="3310128" cy="1193841"/>
          </a:xfrm>
          <a:prstGeom prst="rect">
            <a:avLst/>
          </a:prstGeom>
          <a:solidFill>
            <a:srgbClr val="7A8992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35824" y="2225284"/>
            <a:ext cx="21184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GRANULAR</a:t>
            </a:r>
            <a:endParaRPr lang="en-US" sz="946" dirty="0"/>
          </a:p>
        </p:txBody>
      </p:sp>
      <p:sp>
        <p:nvSpPr>
          <p:cNvPr id="33" name="Text 31"/>
          <p:cNvSpPr/>
          <p:nvPr/>
        </p:nvSpPr>
        <p:spPr>
          <a:xfrm>
            <a:off x="9930018" y="2206996"/>
            <a:ext cx="7648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22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cm</a:t>
            </a:r>
            <a:endParaRPr lang="en-US" sz="1322" dirty="0"/>
          </a:p>
        </p:txBody>
      </p:sp>
      <p:sp>
        <p:nvSpPr>
          <p:cNvPr id="34" name="Shape 32"/>
          <p:cNvSpPr/>
          <p:nvPr/>
        </p:nvSpPr>
        <p:spPr>
          <a:xfrm>
            <a:off x="7571232" y="2904500"/>
            <a:ext cx="3310128" cy="979322"/>
          </a:xfrm>
          <a:prstGeom prst="rect">
            <a:avLst/>
          </a:prstGeom>
          <a:solidFill>
            <a:srgbClr val="A58A54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35824" y="3311865"/>
            <a:ext cx="21184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SUBBASE GRANULAR</a:t>
            </a:r>
            <a:endParaRPr lang="en-US" sz="946" dirty="0"/>
          </a:p>
        </p:txBody>
      </p:sp>
      <p:sp>
        <p:nvSpPr>
          <p:cNvPr id="36" name="Text 34"/>
          <p:cNvSpPr/>
          <p:nvPr/>
        </p:nvSpPr>
        <p:spPr>
          <a:xfrm>
            <a:off x="9930018" y="3293577"/>
            <a:ext cx="7648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22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cm</a:t>
            </a:r>
            <a:endParaRPr lang="en-US" sz="1322" dirty="0"/>
          </a:p>
        </p:txBody>
      </p:sp>
      <p:sp>
        <p:nvSpPr>
          <p:cNvPr id="37" name="Shape 35"/>
          <p:cNvSpPr/>
          <p:nvPr/>
        </p:nvSpPr>
        <p:spPr>
          <a:xfrm>
            <a:off x="7571232" y="3883823"/>
            <a:ext cx="3310128" cy="540959"/>
          </a:xfrm>
          <a:prstGeom prst="rect">
            <a:avLst/>
          </a:prstGeom>
          <a:solidFill>
            <a:srgbClr val="6A747B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35824" y="4072006"/>
            <a:ext cx="21184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SUBRASANTE ASUMIDA CBR 8%</a:t>
            </a:r>
            <a:endParaRPr lang="en-US" sz="9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-914400"/>
            <a:ext cx="6400800" cy="7955280"/>
          </a:xfrm>
          <a:prstGeom prst="arc">
            <a:avLst/>
          </a:prstGeom>
          <a:noFill/>
          <a:ln w="88900">
            <a:solidFill>
              <a:srgbClr val="303940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109728" cy="5394960"/>
          </a:xfrm>
          <a:prstGeom prst="rect">
            <a:avLst/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8412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77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9326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C4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DE EXPOSICION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mezcla al paquete estructural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896112" y="324612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6DE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presentacion conecta materiales, transito real, simulador y decision estructural.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09560" y="1325880"/>
            <a:ext cx="2880360" cy="454274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74152" y="1670426"/>
            <a:ext cx="21259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84387" y="1670426"/>
            <a:ext cx="21259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94622" y="1670426"/>
            <a:ext cx="21259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4858" y="1670426"/>
            <a:ext cx="21259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15093" y="1670426"/>
            <a:ext cx="21259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74152" y="1470721"/>
            <a:ext cx="18434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CARPETA ASFALTICA EN CALIENTE</a:t>
            </a:r>
            <a:endParaRPr lang="en-US" sz="868" dirty="0"/>
          </a:p>
        </p:txBody>
      </p:sp>
      <p:sp>
        <p:nvSpPr>
          <p:cNvPr id="16" name="Text 14"/>
          <p:cNvSpPr/>
          <p:nvPr/>
        </p:nvSpPr>
        <p:spPr>
          <a:xfrm>
            <a:off x="9931847" y="1452433"/>
            <a:ext cx="689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12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cm</a:t>
            </a:r>
            <a:endParaRPr lang="en-US" sz="1212" dirty="0"/>
          </a:p>
        </p:txBody>
      </p:sp>
      <p:sp>
        <p:nvSpPr>
          <p:cNvPr id="17" name="Shape 15"/>
          <p:cNvSpPr/>
          <p:nvPr/>
        </p:nvSpPr>
        <p:spPr>
          <a:xfrm>
            <a:off x="7909560" y="1780154"/>
            <a:ext cx="2880360" cy="1076797"/>
          </a:xfrm>
          <a:prstGeom prst="rect">
            <a:avLst/>
          </a:prstGeom>
          <a:solidFill>
            <a:srgbClr val="7A8992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74152" y="2236257"/>
            <a:ext cx="18434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GRANULAR</a:t>
            </a:r>
            <a:endParaRPr lang="en-US" sz="868" dirty="0"/>
          </a:p>
        </p:txBody>
      </p:sp>
      <p:sp>
        <p:nvSpPr>
          <p:cNvPr id="19" name="Text 17"/>
          <p:cNvSpPr/>
          <p:nvPr/>
        </p:nvSpPr>
        <p:spPr>
          <a:xfrm>
            <a:off x="9931847" y="2217969"/>
            <a:ext cx="689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12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cm</a:t>
            </a:r>
            <a:endParaRPr lang="en-US" sz="1212" dirty="0"/>
          </a:p>
        </p:txBody>
      </p:sp>
      <p:sp>
        <p:nvSpPr>
          <p:cNvPr id="20" name="Shape 18"/>
          <p:cNvSpPr/>
          <p:nvPr/>
        </p:nvSpPr>
        <p:spPr>
          <a:xfrm>
            <a:off x="7909560" y="2856951"/>
            <a:ext cx="2880360" cy="883310"/>
          </a:xfrm>
          <a:prstGeom prst="rect">
            <a:avLst/>
          </a:prstGeom>
          <a:solidFill>
            <a:srgbClr val="A58A54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74152" y="3216311"/>
            <a:ext cx="18434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SUBBASE GRANULAR</a:t>
            </a:r>
            <a:endParaRPr lang="en-US" sz="868" dirty="0"/>
          </a:p>
        </p:txBody>
      </p:sp>
      <p:sp>
        <p:nvSpPr>
          <p:cNvPr id="22" name="Text 20"/>
          <p:cNvSpPr/>
          <p:nvPr/>
        </p:nvSpPr>
        <p:spPr>
          <a:xfrm>
            <a:off x="9931847" y="3198023"/>
            <a:ext cx="689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12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cm</a:t>
            </a:r>
            <a:endParaRPr lang="en-US" sz="1212" dirty="0"/>
          </a:p>
        </p:txBody>
      </p:sp>
      <p:sp>
        <p:nvSpPr>
          <p:cNvPr id="23" name="Shape 21"/>
          <p:cNvSpPr/>
          <p:nvPr/>
        </p:nvSpPr>
        <p:spPr>
          <a:xfrm>
            <a:off x="7909560" y="3740262"/>
            <a:ext cx="2880360" cy="487924"/>
          </a:xfrm>
          <a:prstGeom prst="rect">
            <a:avLst/>
          </a:prstGeom>
          <a:solidFill>
            <a:srgbClr val="6A747B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74152" y="3901928"/>
            <a:ext cx="18434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SUBRASANTE ASUMIDA CBR 8%</a:t>
            </a:r>
            <a:endParaRPr lang="en-US" sz="868" dirty="0"/>
          </a:p>
        </p:txBody>
      </p:sp>
      <p:sp>
        <p:nvSpPr>
          <p:cNvPr id="25" name="Shape 23"/>
          <p:cNvSpPr/>
          <p:nvPr/>
        </p:nvSpPr>
        <p:spPr>
          <a:xfrm>
            <a:off x="914400" y="5257800"/>
            <a:ext cx="2057400" cy="502920"/>
          </a:xfrm>
          <a:prstGeom prst="chevron">
            <a:avLst/>
          </a:prstGeom>
          <a:solidFill>
            <a:srgbClr val="303940"/>
          </a:solidFill>
          <a:ln w="12700">
            <a:solidFill>
              <a:srgbClr val="3039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54132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Mezcla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20440" y="5257800"/>
            <a:ext cx="2057400" cy="502920"/>
          </a:xfrm>
          <a:prstGeom prst="chevron">
            <a:avLst/>
          </a:prstGeom>
          <a:solidFill>
            <a:srgbClr val="303940"/>
          </a:solidFill>
          <a:ln w="12700">
            <a:solidFill>
              <a:srgbClr val="3039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0168" y="54132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Trafico real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5257800"/>
            <a:ext cx="2057400" cy="502920"/>
          </a:xfrm>
          <a:prstGeom prst="chevron">
            <a:avLst/>
          </a:prstGeom>
          <a:solidFill>
            <a:srgbClr val="303940"/>
          </a:solidFill>
          <a:ln w="12700">
            <a:solidFill>
              <a:srgbClr val="3039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54132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Simulador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732520" y="5257800"/>
            <a:ext cx="2057400" cy="502920"/>
          </a:xfrm>
          <a:prstGeom prst="chevron">
            <a:avLst/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42248" y="54132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 experimental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FINAL DE PAVIMENTOS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importa el transito pesado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D7E0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89888"/>
            <a:ext cx="5760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0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volumen vehicular explica la demanda; los pesados explican el dano.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9808" y="2121408"/>
            <a:ext cx="242316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121408"/>
            <a:ext cx="73152" cy="1024128"/>
          </a:xfrm>
          <a:prstGeom prst="rect">
            <a:avLst/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26771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IMDA DE REFERENCIA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932688" y="2505456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7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91,033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01568" y="2121408"/>
            <a:ext cx="18745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2121408"/>
            <a:ext cx="73152" cy="1024128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226771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PESADOS E6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584448" y="2505456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9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4.7%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04688" y="2121408"/>
            <a:ext cx="18745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04688" y="2121408"/>
            <a:ext cx="73152" cy="1024128"/>
          </a:xfrm>
          <a:prstGeom prst="rect">
            <a:avLst/>
          </a:prstGeom>
          <a:solidFill>
            <a:srgbClr val="1E5E7E"/>
          </a:solidFill>
          <a:ln w="12700">
            <a:solidFill>
              <a:srgbClr val="1E5E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7568" y="226771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 CAMION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5687568" y="2505456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E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1.44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07808" y="2121408"/>
            <a:ext cx="21488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07808" y="2121408"/>
            <a:ext cx="73152" cy="1024128"/>
          </a:xfrm>
          <a:prstGeom prst="rect">
            <a:avLst/>
          </a:prstGeom>
          <a:solidFill>
            <a:srgbClr val="B64034"/>
          </a:solidFill>
          <a:ln w="12700">
            <a:solidFill>
              <a:srgbClr val="B640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0688" y="22677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ESAL DISENO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7790688" y="250545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640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46.10 M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51560" y="4206240"/>
            <a:ext cx="8046720" cy="0"/>
          </a:xfrm>
          <a:prstGeom prst="line">
            <a:avLst/>
          </a:prstGeom>
          <a:noFill/>
          <a:ln w="25400">
            <a:solidFill>
              <a:srgbClr val="D7E0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9264" y="4123944"/>
            <a:ext cx="164592" cy="164592"/>
          </a:xfrm>
          <a:prstGeom prst="ellipse">
            <a:avLst/>
          </a:prstGeom>
          <a:solidFill>
            <a:srgbClr val="1E5E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48456" y="4123944"/>
            <a:ext cx="164592" cy="164592"/>
          </a:xfrm>
          <a:prstGeom prst="ellipse">
            <a:avLst/>
          </a:prstGeom>
          <a:solidFill>
            <a:srgbClr val="1E5E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4123944"/>
            <a:ext cx="164592" cy="164592"/>
          </a:xfrm>
          <a:prstGeom prst="ellipse">
            <a:avLst/>
          </a:prstGeom>
          <a:solidFill>
            <a:srgbClr val="1E5E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0" y="4123944"/>
            <a:ext cx="164592" cy="164592"/>
          </a:xfrm>
          <a:prstGeom prst="ellipse">
            <a:avLst/>
          </a:prstGeom>
          <a:solidFill>
            <a:srgbClr val="B640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48056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55264" y="448056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Pesados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80760" y="448056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823960" y="4480560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Diseno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966960" y="3886200"/>
            <a:ext cx="1234440" cy="222199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40112" y="4034333"/>
            <a:ext cx="11334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12146" y="4034333"/>
            <a:ext cx="11334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84180" y="4034333"/>
            <a:ext cx="11334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856214" y="4034333"/>
            <a:ext cx="11334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66960" y="4108399"/>
            <a:ext cx="1234440" cy="469087"/>
          </a:xfrm>
          <a:prstGeom prst="rect">
            <a:avLst/>
          </a:prstGeom>
          <a:solidFill>
            <a:srgbClr val="7A899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66960" y="4577486"/>
            <a:ext cx="1234440" cy="370332"/>
          </a:xfrm>
          <a:prstGeom prst="rect">
            <a:avLst/>
          </a:prstGeom>
          <a:solidFill>
            <a:srgbClr val="A58A5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66960" y="4947818"/>
            <a:ext cx="1234440" cy="172822"/>
          </a:xfrm>
          <a:prstGeom prst="rect">
            <a:avLst/>
          </a:prstGeom>
          <a:solidFill>
            <a:srgbClr val="6A747B"/>
          </a:solidFill>
          <a:ln w="12700">
            <a:solidFill>
              <a:srgbClr val="6A747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FINAL DE PAVIMENTOS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Mezcla asfaltica en caliente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D7E0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71600"/>
            <a:ext cx="66751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mezcla no es solo una capa: es el material que recibe el transito y transmite esfuerzos al resto de la estructura.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278892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331720"/>
            <a:ext cx="118872" cy="841248"/>
          </a:xfrm>
          <a:prstGeom prst="rect">
            <a:avLst/>
          </a:prstGeom>
          <a:solidFill>
            <a:srgbClr val="1E5E7E"/>
          </a:solidFill>
          <a:ln w="12700">
            <a:solidFill>
              <a:srgbClr val="1E5E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487168"/>
            <a:ext cx="2286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Agregados petreos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3272" y="2788920"/>
            <a:ext cx="2240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Esqueleto resistente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77640" y="2331720"/>
            <a:ext cx="278892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77640" y="2331720"/>
            <a:ext cx="118872" cy="841248"/>
          </a:xfrm>
          <a:prstGeom prst="rect">
            <a:avLst/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33672" y="2487168"/>
            <a:ext cx="2286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Cemento asfaltico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33672" y="2788920"/>
            <a:ext cx="2240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Cohesion y durabilidad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566160"/>
            <a:ext cx="278892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566160"/>
            <a:ext cx="118872" cy="841248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3721608"/>
            <a:ext cx="2286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Filler mineral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3272" y="4023360"/>
            <a:ext cx="2240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 de vacios finos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77640" y="3566160"/>
            <a:ext cx="278892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77640" y="3566160"/>
            <a:ext cx="118872" cy="84124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33672" y="3721608"/>
            <a:ext cx="2286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33672" y="4023360"/>
            <a:ext cx="2240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Mezclado y compactacion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46720" y="1600200"/>
            <a:ext cx="2834640" cy="434523"/>
          </a:xfrm>
          <a:prstGeom prst="rect">
            <a:avLst/>
          </a:prstGeom>
          <a:solidFill>
            <a:srgbClr val="15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11312" y="1924995"/>
            <a:ext cx="20878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12403" y="1924995"/>
            <a:ext cx="20878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13494" y="1924995"/>
            <a:ext cx="20878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14586" y="1924995"/>
            <a:ext cx="20878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15677" y="1924995"/>
            <a:ext cx="20878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11312" y="1735165"/>
            <a:ext cx="18141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6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CARPETA ASFALTICA EN CALIENTE</a:t>
            </a:r>
            <a:endParaRPr lang="en-US" sz="836" dirty="0"/>
          </a:p>
        </p:txBody>
      </p:sp>
      <p:sp>
        <p:nvSpPr>
          <p:cNvPr id="32" name="Text 30"/>
          <p:cNvSpPr/>
          <p:nvPr/>
        </p:nvSpPr>
        <p:spPr>
          <a:xfrm>
            <a:off x="10060595" y="1716877"/>
            <a:ext cx="6598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6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cm</a:t>
            </a:r>
            <a:endParaRPr lang="en-US" sz="1168" dirty="0"/>
          </a:p>
        </p:txBody>
      </p:sp>
      <p:sp>
        <p:nvSpPr>
          <p:cNvPr id="33" name="Shape 31"/>
          <p:cNvSpPr/>
          <p:nvPr/>
        </p:nvSpPr>
        <p:spPr>
          <a:xfrm>
            <a:off x="8046720" y="2034723"/>
            <a:ext cx="2834640" cy="1029980"/>
          </a:xfrm>
          <a:prstGeom prst="rect">
            <a:avLst/>
          </a:prstGeom>
          <a:solidFill>
            <a:srgbClr val="7A899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11312" y="2467417"/>
            <a:ext cx="18141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6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GRANULAR</a:t>
            </a:r>
            <a:endParaRPr lang="en-US" sz="836" dirty="0"/>
          </a:p>
        </p:txBody>
      </p:sp>
      <p:sp>
        <p:nvSpPr>
          <p:cNvPr id="35" name="Text 33"/>
          <p:cNvSpPr/>
          <p:nvPr/>
        </p:nvSpPr>
        <p:spPr>
          <a:xfrm>
            <a:off x="10060595" y="2449129"/>
            <a:ext cx="6598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6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cm</a:t>
            </a:r>
            <a:endParaRPr lang="en-US" sz="1168" dirty="0"/>
          </a:p>
        </p:txBody>
      </p:sp>
      <p:sp>
        <p:nvSpPr>
          <p:cNvPr id="36" name="Shape 34"/>
          <p:cNvSpPr/>
          <p:nvPr/>
        </p:nvSpPr>
        <p:spPr>
          <a:xfrm>
            <a:off x="8046720" y="3064703"/>
            <a:ext cx="2834640" cy="844906"/>
          </a:xfrm>
          <a:prstGeom prst="rect">
            <a:avLst/>
          </a:prstGeom>
          <a:solidFill>
            <a:srgbClr val="A58A5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11312" y="3404860"/>
            <a:ext cx="18141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6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SUBBASE GRANULAR</a:t>
            </a:r>
            <a:endParaRPr lang="en-US" sz="836" dirty="0"/>
          </a:p>
        </p:txBody>
      </p:sp>
      <p:sp>
        <p:nvSpPr>
          <p:cNvPr id="38" name="Text 36"/>
          <p:cNvSpPr/>
          <p:nvPr/>
        </p:nvSpPr>
        <p:spPr>
          <a:xfrm>
            <a:off x="10060595" y="3386572"/>
            <a:ext cx="6598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6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cm</a:t>
            </a:r>
            <a:endParaRPr lang="en-US" sz="1168" dirty="0"/>
          </a:p>
        </p:txBody>
      </p:sp>
      <p:sp>
        <p:nvSpPr>
          <p:cNvPr id="39" name="Shape 37"/>
          <p:cNvSpPr/>
          <p:nvPr/>
        </p:nvSpPr>
        <p:spPr>
          <a:xfrm>
            <a:off x="8046720" y="3909609"/>
            <a:ext cx="2834640" cy="466710"/>
          </a:xfrm>
          <a:prstGeom prst="rect">
            <a:avLst/>
          </a:prstGeom>
          <a:solidFill>
            <a:srgbClr val="6A74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11312" y="4060668"/>
            <a:ext cx="18141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6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SUBRASANTE ASUMIDA CBR 8%</a:t>
            </a:r>
            <a:endParaRPr lang="en-US" sz="83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FINAL DE PAVIMENTOS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Parametros de diseno de mezcla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D7E0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74520"/>
            <a:ext cx="16276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057400"/>
            <a:ext cx="411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7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2487168"/>
            <a:ext cx="12435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Granulometria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9536" y="3154680"/>
            <a:ext cx="124358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 trabazon, vacios y estabilidad.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0" y="1874520"/>
            <a:ext cx="1627632" cy="2606040"/>
          </a:xfrm>
          <a:prstGeom prst="rect">
            <a:avLst/>
          </a:prstGeom>
          <a:solidFill>
            <a:srgbClr val="EEF3F5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2057400"/>
            <a:ext cx="411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7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72384" y="2487168"/>
            <a:ext cx="12435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Contenido optimo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72384" y="3154680"/>
            <a:ext cx="124358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Equilibra durabilidad y deformacion.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38928" y="1874520"/>
            <a:ext cx="16276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2057400"/>
            <a:ext cx="411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7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85232" y="2487168"/>
            <a:ext cx="12435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Vacios / VMA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85232" y="3154680"/>
            <a:ext cx="124358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Aseguran espacio para ligante y compactacion.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51776" y="1874520"/>
            <a:ext cx="1627632" cy="2606040"/>
          </a:xfrm>
          <a:prstGeom prst="rect">
            <a:avLst/>
          </a:prstGeom>
          <a:solidFill>
            <a:srgbClr val="EEF3F5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2057400"/>
            <a:ext cx="411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7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2487168"/>
            <a:ext cx="12435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Marshall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98080" y="3154680"/>
            <a:ext cx="124358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 estabilidad y flujo.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564624" y="1874520"/>
            <a:ext cx="16276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10928" y="2057400"/>
            <a:ext cx="411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7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10928" y="2487168"/>
            <a:ext cx="12435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710928" y="3154680"/>
            <a:ext cx="124358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Condiciona mezclado, transporte y compactacion.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7240" y="5166360"/>
            <a:ext cx="7498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5E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mezcla debe ser estable, durable y compactable.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FINAL DE PAVIMENTOS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real: Av. Santa Rosa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D7E0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417320"/>
            <a:ext cx="466344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755648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7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del caso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24128" y="2121408"/>
            <a:ext cx="3657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Estudio de Trafico Av. Santa Rosa (2018)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60704" y="3090672"/>
            <a:ext cx="402336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4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Tramo critico: Av. Argentina - Av. Morales Duarez.</a:t>
            </a:r>
            <a:endParaRPr lang="en-US" sz="1140" dirty="0"/>
          </a:p>
          <a:p>
            <a:r>
              <a:rPr lang="en-US" sz="114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Estacion E6 como referencia de mayor demanda.</a:t>
            </a:r>
            <a:endParaRPr lang="en-US" sz="1140" dirty="0"/>
          </a:p>
          <a:p>
            <a:r>
              <a:rPr lang="en-US" sz="114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 con proyecto, con presion de llantas.</a:t>
            </a:r>
            <a:endParaRPr lang="en-US" sz="1140" dirty="0"/>
          </a:p>
          <a:p>
            <a:r>
              <a:rPr lang="en-US" sz="114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academico para exposicion y simulacion.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6720840" y="1371600"/>
            <a:ext cx="4023360" cy="3474720"/>
          </a:xfrm>
          <a:prstGeom prst="arc">
            <a:avLst/>
          </a:prstGeom>
          <a:noFill/>
          <a:ln w="38100">
            <a:solidFill>
              <a:srgbClr val="D7E0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4206240"/>
            <a:ext cx="237744" cy="237744"/>
          </a:xfrm>
          <a:prstGeom prst="ellipse">
            <a:avLst/>
          </a:prstGeom>
          <a:solidFill>
            <a:srgbClr val="1E5E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4498848"/>
            <a:ext cx="3840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726680" y="3337560"/>
            <a:ext cx="237744" cy="237744"/>
          </a:xfrm>
          <a:prstGeom prst="ellipse">
            <a:avLst/>
          </a:prstGeom>
          <a:solidFill>
            <a:srgbClr val="1E5E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3630168"/>
            <a:ext cx="3840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412480" y="2743200"/>
            <a:ext cx="237744" cy="237744"/>
          </a:xfrm>
          <a:prstGeom prst="ellipse">
            <a:avLst/>
          </a:prstGeom>
          <a:solidFill>
            <a:srgbClr val="1E5E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3035808"/>
            <a:ext cx="3840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144000" y="2331720"/>
            <a:ext cx="237744" cy="237744"/>
          </a:xfrm>
          <a:prstGeom prst="ellipse">
            <a:avLst/>
          </a:prstGeom>
          <a:solidFill>
            <a:srgbClr val="1E5E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2624328"/>
            <a:ext cx="3840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921240" y="2057400"/>
            <a:ext cx="237744" cy="237744"/>
          </a:xfrm>
          <a:prstGeom prst="ellipse">
            <a:avLst/>
          </a:prstGeom>
          <a:solidFill>
            <a:srgbClr val="1E5E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0" y="2350008"/>
            <a:ext cx="3840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E5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0287000" y="1828800"/>
            <a:ext cx="402336" cy="402336"/>
          </a:xfrm>
          <a:prstGeom prst="ellipse">
            <a:avLst/>
          </a:prstGeom>
          <a:solidFill>
            <a:srgbClr val="B6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05288" y="1938528"/>
            <a:ext cx="34747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E6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12280" y="4901184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4901184"/>
            <a:ext cx="73152" cy="868680"/>
          </a:xfrm>
          <a:prstGeom prst="rect">
            <a:avLst/>
          </a:prstGeom>
          <a:solidFill>
            <a:srgbClr val="B64034"/>
          </a:solidFill>
          <a:ln w="12700">
            <a:solidFill>
              <a:srgbClr val="B640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50474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IMDA E6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995160" y="5285232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640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91,033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098280" y="4901184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98280" y="4901184"/>
            <a:ext cx="73152" cy="86868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81160" y="50474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HORIZONTE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9281160" y="5285232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2042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FINAL DE PAVIMENTOS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IMDA por estacion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D7E0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53312"/>
            <a:ext cx="6035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E6 es la estacion critica y sostiene el caso usado en el simulador.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14400" y="3535031"/>
            <a:ext cx="822960" cy="1421017"/>
          </a:xfrm>
          <a:prstGeom prst="rect">
            <a:avLst/>
          </a:prstGeom>
          <a:solidFill>
            <a:srgbClr val="1E5E7E"/>
          </a:solidFill>
          <a:ln w="12700">
            <a:solidFill>
              <a:srgbClr val="1E5E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138928"/>
            <a:ext cx="822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5440680"/>
            <a:ext cx="12252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43,529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14600" y="3281997"/>
            <a:ext cx="822960" cy="1674051"/>
          </a:xfrm>
          <a:prstGeom prst="rect">
            <a:avLst/>
          </a:prstGeom>
          <a:solidFill>
            <a:srgbClr val="1E5E7E"/>
          </a:solidFill>
          <a:ln w="12700">
            <a:solidFill>
              <a:srgbClr val="1E5E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5138928"/>
            <a:ext cx="822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13432" y="5440680"/>
            <a:ext cx="12252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51,280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0" y="2983684"/>
            <a:ext cx="822960" cy="1972364"/>
          </a:xfrm>
          <a:prstGeom prst="rect">
            <a:avLst/>
          </a:prstGeom>
          <a:solidFill>
            <a:srgbClr val="1E5E7E"/>
          </a:solidFill>
          <a:ln w="12700">
            <a:solidFill>
              <a:srgbClr val="1E5E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5138928"/>
            <a:ext cx="822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13632" y="5440680"/>
            <a:ext cx="12252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60,418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715000" y="2660757"/>
            <a:ext cx="822960" cy="2295291"/>
          </a:xfrm>
          <a:prstGeom prst="rect">
            <a:avLst/>
          </a:prstGeom>
          <a:solidFill>
            <a:srgbClr val="1E5E7E"/>
          </a:solidFill>
          <a:ln w="12700">
            <a:solidFill>
              <a:srgbClr val="1E5E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5138928"/>
            <a:ext cx="822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13832" y="5440680"/>
            <a:ext cx="12252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70,310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0" y="2208129"/>
            <a:ext cx="822960" cy="2747919"/>
          </a:xfrm>
          <a:prstGeom prst="rect">
            <a:avLst/>
          </a:prstGeom>
          <a:solidFill>
            <a:srgbClr val="1E5E7E"/>
          </a:solidFill>
          <a:ln w="12700">
            <a:solidFill>
              <a:srgbClr val="1E5E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5138928"/>
            <a:ext cx="822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14032" y="5440680"/>
            <a:ext cx="12252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84,175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915400" y="1984248"/>
            <a:ext cx="822960" cy="2971800"/>
          </a:xfrm>
          <a:prstGeom prst="rect">
            <a:avLst/>
          </a:prstGeom>
          <a:solidFill>
            <a:srgbClr val="B64034"/>
          </a:solidFill>
          <a:ln w="12700">
            <a:solidFill>
              <a:srgbClr val="B640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15400" y="5138928"/>
            <a:ext cx="822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714232" y="5440680"/>
            <a:ext cx="12252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91,033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77240" y="4956048"/>
            <a:ext cx="10241280" cy="0"/>
          </a:xfrm>
          <a:prstGeom prst="line">
            <a:avLst/>
          </a:prstGeom>
          <a:noFill/>
          <a:ln w="12700">
            <a:solidFill>
              <a:srgbClr val="D7E0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95360" y="1920240"/>
            <a:ext cx="22402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5360" y="1920240"/>
            <a:ext cx="73152" cy="1143000"/>
          </a:xfrm>
          <a:prstGeom prst="rect">
            <a:avLst/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20665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TECNICA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8778240" y="2304288"/>
            <a:ext cx="1920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7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demanda maxima se toma en E6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FINAL DE PAVIMENTOS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Vehiculos pesados y factor camion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D7E0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21945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63040"/>
            <a:ext cx="73152" cy="1078992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0934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PESADOS E6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005840" y="184708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9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4.7%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91840" y="1463040"/>
            <a:ext cx="21945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463040"/>
            <a:ext cx="73152" cy="1078992"/>
          </a:xfrm>
          <a:prstGeom prst="rect">
            <a:avLst/>
          </a:prstGeom>
          <a:solidFill>
            <a:srgbClr val="1E5E7E"/>
          </a:solidFill>
          <a:ln w="12700">
            <a:solidFill>
              <a:srgbClr val="1E5E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60934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 CAMION REF.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474720" y="184708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E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1.44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60720" y="1463040"/>
            <a:ext cx="23317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1463040"/>
            <a:ext cx="73152" cy="1078992"/>
          </a:xfrm>
          <a:prstGeom prst="rect">
            <a:avLst/>
          </a:prstGeom>
          <a:solidFill>
            <a:srgbClr val="B64034"/>
          </a:solidFill>
          <a:ln w="12700">
            <a:solidFill>
              <a:srgbClr val="B640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6093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ESAL DIRECTO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5943600" y="184708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640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46.10 M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3063240"/>
            <a:ext cx="72237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3319272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77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" y="3593592"/>
            <a:ext cx="6309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porcentaje de pesados puede parecer pequeno, pero gobierna el dano estructural acumulado.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732520" y="1874520"/>
            <a:ext cx="1920240" cy="345643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05672" y="2104949"/>
            <a:ext cx="184785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49156" y="2104949"/>
            <a:ext cx="184785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92640" y="2104949"/>
            <a:ext cx="184785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36124" y="2104949"/>
            <a:ext cx="184785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32520" y="2220163"/>
            <a:ext cx="1920240" cy="729691"/>
          </a:xfrm>
          <a:prstGeom prst="rect">
            <a:avLst/>
          </a:prstGeom>
          <a:solidFill>
            <a:srgbClr val="7A899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2520" y="2949854"/>
            <a:ext cx="1920240" cy="576072"/>
          </a:xfrm>
          <a:prstGeom prst="rect">
            <a:avLst/>
          </a:prstGeom>
          <a:solidFill>
            <a:srgbClr val="A58A5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32520" y="3525926"/>
            <a:ext cx="1920240" cy="268834"/>
          </a:xfrm>
          <a:prstGeom prst="rect">
            <a:avLst/>
          </a:prstGeom>
          <a:solidFill>
            <a:srgbClr val="6A747B"/>
          </a:solidFill>
          <a:ln w="12700">
            <a:solidFill>
              <a:srgbClr val="6A74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964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IMDA visible + ESAL directo = trazabilidad para la exposicion.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FINAL DE PAVIMENTOS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Parametros para el simulador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D7E0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417320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536192"/>
            <a:ext cx="32004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de pavimento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608576" y="1517904"/>
            <a:ext cx="3200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en caliente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777240" y="1901952"/>
            <a:ext cx="3657600" cy="384048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901952"/>
            <a:ext cx="3657600" cy="384048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020824"/>
            <a:ext cx="32004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Ambito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608576" y="2002536"/>
            <a:ext cx="3200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Pavimento urbano CE.010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777240" y="2386584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2386584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2505456"/>
            <a:ext cx="32004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de via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608576" y="2487168"/>
            <a:ext cx="3200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Arterial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777240" y="2871216"/>
            <a:ext cx="3657600" cy="384048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2871216"/>
            <a:ext cx="3657600" cy="384048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2990088"/>
            <a:ext cx="32004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 de trafico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608576" y="2971800"/>
            <a:ext cx="3200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 de diseno directo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777240" y="3355848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3355848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3474720"/>
            <a:ext cx="32004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 de diseno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608576" y="3456432"/>
            <a:ext cx="3200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46,100,000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777240" y="3840480"/>
            <a:ext cx="3657600" cy="384048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4840" y="3840480"/>
            <a:ext cx="3657600" cy="384048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3959352"/>
            <a:ext cx="32004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IMDA referencia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608576" y="3941064"/>
            <a:ext cx="3200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91,033 veh/dia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777240" y="4325112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4840" y="4325112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" y="4443984"/>
            <a:ext cx="32004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Pesados / FC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608576" y="4425696"/>
            <a:ext cx="3200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4.7% / 1.44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777240" y="4809744"/>
            <a:ext cx="3657600" cy="384048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34840" y="4809744"/>
            <a:ext cx="3657600" cy="384048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1832" y="4928616"/>
            <a:ext cx="32004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Paquete A4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4608576" y="4910328"/>
            <a:ext cx="3200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cm / 50 cm / 40 cm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8732520" y="1463040"/>
            <a:ext cx="2423160" cy="3520440"/>
          </a:xfrm>
          <a:prstGeom prst="roundRect">
            <a:avLst>
              <a:gd name="adj" fmla="val 2264"/>
            </a:avLst>
          </a:prstGeom>
          <a:solidFill>
            <a:srgbClr val="20272D"/>
          </a:solidFill>
          <a:ln w="12700">
            <a:solidFill>
              <a:srgbClr val="2027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06840" y="1828800"/>
            <a:ext cx="1554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C4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Boton del caso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006840" y="2331720"/>
            <a:ext cx="1719072" cy="310896"/>
          </a:xfrm>
          <a:prstGeom prst="roundRect">
            <a:avLst>
              <a:gd name="adj" fmla="val 14706"/>
            </a:avLst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16568" y="240030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Cargar caso real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006840" y="3035808"/>
            <a:ext cx="1783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CE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Despues de cargarlo, los campos siguen editables para comparar escenarios.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9189720" y="4251960"/>
            <a:ext cx="1417320" cy="102047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62872" y="4319991"/>
            <a:ext cx="13239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580626" y="4319991"/>
            <a:ext cx="13239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98380" y="4319991"/>
            <a:ext cx="13239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16134" y="4319991"/>
            <a:ext cx="13239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89720" y="4354007"/>
            <a:ext cx="1417320" cy="215433"/>
          </a:xfrm>
          <a:prstGeom prst="rect">
            <a:avLst/>
          </a:prstGeom>
          <a:solidFill>
            <a:srgbClr val="7A899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89720" y="4569440"/>
            <a:ext cx="1417320" cy="170078"/>
          </a:xfrm>
          <a:prstGeom prst="rect">
            <a:avLst/>
          </a:prstGeom>
          <a:solidFill>
            <a:srgbClr val="A58A5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89720" y="4739518"/>
            <a:ext cx="1417320" cy="79370"/>
          </a:xfrm>
          <a:prstGeom prst="rect">
            <a:avLst/>
          </a:prstGeom>
          <a:solidFill>
            <a:srgbClr val="6A747B"/>
          </a:solidFill>
          <a:ln w="12700">
            <a:solidFill>
              <a:srgbClr val="6A747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FINAL DE PAVIMENTOS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Diseno experimental del paquete estructural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D7E0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53312"/>
            <a:ext cx="7315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0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 de obra: reducir la carpeta asfaltica, porque suele ser el elemento mas costoso, y recuperar capacidad con capas granulares.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8680" y="2514600"/>
            <a:ext cx="3886200" cy="508589"/>
          </a:xfrm>
          <a:prstGeom prst="rect">
            <a:avLst/>
          </a:prstGeom>
          <a:solidFill>
            <a:srgbClr val="15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" y="2913461"/>
            <a:ext cx="29641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44675" y="2913461"/>
            <a:ext cx="29641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6078" y="2913461"/>
            <a:ext cx="29641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7482" y="2913461"/>
            <a:ext cx="29641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78885" y="2913461"/>
            <a:ext cx="29641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2686599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3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CARPETA ASFALTICA EN CALIENTE</a:t>
            </a:r>
            <a:endParaRPr lang="en-US" sz="953" dirty="0"/>
          </a:p>
        </p:txBody>
      </p:sp>
      <p:sp>
        <p:nvSpPr>
          <p:cNvPr id="16" name="Text 14"/>
          <p:cNvSpPr/>
          <p:nvPr/>
        </p:nvSpPr>
        <p:spPr>
          <a:xfrm>
            <a:off x="3794211" y="2668311"/>
            <a:ext cx="7723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33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cm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868680" y="3023189"/>
            <a:ext cx="3886200" cy="1205545"/>
          </a:xfrm>
          <a:prstGeom prst="rect">
            <a:avLst/>
          </a:prstGeom>
          <a:solidFill>
            <a:srgbClr val="7A899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354366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3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GRANULAR</a:t>
            </a:r>
            <a:endParaRPr lang="en-US" sz="953" dirty="0"/>
          </a:p>
        </p:txBody>
      </p:sp>
      <p:sp>
        <p:nvSpPr>
          <p:cNvPr id="19" name="Text 17"/>
          <p:cNvSpPr/>
          <p:nvPr/>
        </p:nvSpPr>
        <p:spPr>
          <a:xfrm>
            <a:off x="3794211" y="3525378"/>
            <a:ext cx="7723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33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cm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868680" y="4228734"/>
            <a:ext cx="3886200" cy="988924"/>
          </a:xfrm>
          <a:prstGeom prst="rect">
            <a:avLst/>
          </a:prstGeom>
          <a:solidFill>
            <a:srgbClr val="A58A5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64090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3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SUBBASE GRANULAR</a:t>
            </a:r>
            <a:endParaRPr lang="en-US" sz="953" dirty="0"/>
          </a:p>
        </p:txBody>
      </p:sp>
      <p:sp>
        <p:nvSpPr>
          <p:cNvPr id="22" name="Text 20"/>
          <p:cNvSpPr/>
          <p:nvPr/>
        </p:nvSpPr>
        <p:spPr>
          <a:xfrm>
            <a:off x="3794211" y="4622612"/>
            <a:ext cx="7723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33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cm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868680" y="5217658"/>
            <a:ext cx="3886200" cy="546263"/>
          </a:xfrm>
          <a:prstGeom prst="rect">
            <a:avLst/>
          </a:prstGeom>
          <a:solidFill>
            <a:srgbClr val="6A74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5408493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3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SUBRASANTE ASUMIDA CBR 8%</a:t>
            </a:r>
            <a:endParaRPr lang="en-US" sz="953" dirty="0"/>
          </a:p>
        </p:txBody>
      </p:sp>
      <p:sp>
        <p:nvSpPr>
          <p:cNvPr id="25" name="Shape 23"/>
          <p:cNvSpPr/>
          <p:nvPr/>
        </p:nvSpPr>
        <p:spPr>
          <a:xfrm>
            <a:off x="5532120" y="2743200"/>
            <a:ext cx="566928" cy="566928"/>
          </a:xfrm>
          <a:prstGeom prst="ellipse">
            <a:avLst/>
          </a:prstGeom>
          <a:solidFill>
            <a:srgbClr val="E777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96712" y="2898648"/>
            <a:ext cx="2286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3493008"/>
            <a:ext cx="1143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Carpeta minima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67528" y="3950208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7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cm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0488" y="3026664"/>
            <a:ext cx="950976" cy="0"/>
          </a:xfrm>
          <a:prstGeom prst="line">
            <a:avLst/>
          </a:prstGeom>
          <a:noFill/>
          <a:ln w="25400">
            <a:solidFill>
              <a:srgbClr val="D7E0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2743200"/>
            <a:ext cx="566928" cy="566928"/>
          </a:xfrm>
          <a:prstGeom prst="ellipse">
            <a:avLst/>
          </a:prstGeom>
          <a:solidFill>
            <a:srgbClr val="1E5E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9792" y="2898648"/>
            <a:ext cx="2286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3493008"/>
            <a:ext cx="1143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mayor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150608" y="3950208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E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 cm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973568" y="3026664"/>
            <a:ext cx="950976" cy="0"/>
          </a:xfrm>
          <a:prstGeom prst="line">
            <a:avLst/>
          </a:prstGeom>
          <a:noFill/>
          <a:ln w="25400">
            <a:solidFill>
              <a:srgbClr val="D7E0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98280" y="2743200"/>
            <a:ext cx="566928" cy="566928"/>
          </a:xfrm>
          <a:prstGeom prst="ellipse">
            <a:avLst/>
          </a:prstGeom>
          <a:solidFill>
            <a:srgbClr val="1E5E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62872" y="2898648"/>
            <a:ext cx="2286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823960" y="3493008"/>
            <a:ext cx="1143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Subbase mayor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933688" y="3950208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E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 cm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FINAL DE PAVIMENTOS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Comparacion de alternativas estructurales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D7E0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502920" cy="402336"/>
          </a:xfrm>
          <a:prstGeom prst="rect">
            <a:avLst/>
          </a:prstGeom>
          <a:solidFill>
            <a:srgbClr val="20272D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45336"/>
            <a:ext cx="448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Alt.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1161288" y="1417320"/>
            <a:ext cx="621792" cy="402336"/>
          </a:xfrm>
          <a:prstGeom prst="rect">
            <a:avLst/>
          </a:prstGeom>
          <a:solidFill>
            <a:srgbClr val="20272D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545336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Carp.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1783080" y="1417320"/>
            <a:ext cx="621792" cy="402336"/>
          </a:xfrm>
          <a:prstGeom prst="rect">
            <a:avLst/>
          </a:prstGeom>
          <a:solidFill>
            <a:srgbClr val="20272D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0512" y="1545336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404872" y="1417320"/>
            <a:ext cx="749808" cy="402336"/>
          </a:xfrm>
          <a:prstGeom prst="rect">
            <a:avLst/>
          </a:prstGeom>
          <a:solidFill>
            <a:srgbClr val="20272D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32304" y="154533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Subbase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3154680" y="1417320"/>
            <a:ext cx="566928" cy="402336"/>
          </a:xfrm>
          <a:prstGeom prst="rect">
            <a:avLst/>
          </a:prstGeom>
          <a:solidFill>
            <a:srgbClr val="20272D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82112" y="1545336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3721608" y="1417320"/>
            <a:ext cx="850392" cy="402336"/>
          </a:xfrm>
          <a:prstGeom prst="rect">
            <a:avLst/>
          </a:prstGeom>
          <a:solidFill>
            <a:srgbClr val="20272D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545336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 adm.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572000" y="1417320"/>
            <a:ext cx="530352" cy="402336"/>
          </a:xfrm>
          <a:prstGeom prst="rect">
            <a:avLst/>
          </a:prstGeom>
          <a:solidFill>
            <a:srgbClr val="20272D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1545336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PSI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102352" y="1417320"/>
            <a:ext cx="566928" cy="402336"/>
          </a:xfrm>
          <a:prstGeom prst="rect">
            <a:avLst/>
          </a:prstGeom>
          <a:solidFill>
            <a:srgbClr val="20272D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9784" y="1545336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Vida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5669280" y="1417320"/>
            <a:ext cx="822960" cy="402336"/>
          </a:xfrm>
          <a:prstGeom prst="rect">
            <a:avLst/>
          </a:prstGeom>
          <a:solidFill>
            <a:srgbClr val="20272D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96712" y="1545336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658368" y="1819656"/>
            <a:ext cx="502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1947672"/>
            <a:ext cx="448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1161288" y="1819656"/>
            <a:ext cx="6217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194767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1783080" y="1819656"/>
            <a:ext cx="6217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10512" y="194767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2404872" y="1819656"/>
            <a:ext cx="7498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32304" y="1947672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70" dirty="0"/>
          </a:p>
        </p:txBody>
      </p:sp>
      <p:sp>
        <p:nvSpPr>
          <p:cNvPr id="34" name="Shape 32"/>
          <p:cNvSpPr/>
          <p:nvPr/>
        </p:nvSpPr>
        <p:spPr>
          <a:xfrm>
            <a:off x="3154680" y="1819656"/>
            <a:ext cx="5669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82112" y="1947672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3.07</a:t>
            </a:r>
            <a:endParaRPr lang="en-US" sz="770" dirty="0"/>
          </a:p>
        </p:txBody>
      </p:sp>
      <p:sp>
        <p:nvSpPr>
          <p:cNvPr id="36" name="Shape 34"/>
          <p:cNvSpPr/>
          <p:nvPr/>
        </p:nvSpPr>
        <p:spPr>
          <a:xfrm>
            <a:off x="3721608" y="1819656"/>
            <a:ext cx="8503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1947672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1.08 M</a:t>
            </a:r>
            <a:endParaRPr lang="en-US" sz="770" dirty="0"/>
          </a:p>
        </p:txBody>
      </p:sp>
      <p:sp>
        <p:nvSpPr>
          <p:cNvPr id="38" name="Shape 36"/>
          <p:cNvSpPr/>
          <p:nvPr/>
        </p:nvSpPr>
        <p:spPr>
          <a:xfrm>
            <a:off x="4572000" y="1819656"/>
            <a:ext cx="53035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99432" y="1947672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1.86</a:t>
            </a:r>
            <a:endParaRPr lang="en-US" sz="770" dirty="0"/>
          </a:p>
        </p:txBody>
      </p:sp>
      <p:sp>
        <p:nvSpPr>
          <p:cNvPr id="40" name="Shape 38"/>
          <p:cNvSpPr/>
          <p:nvPr/>
        </p:nvSpPr>
        <p:spPr>
          <a:xfrm>
            <a:off x="5102352" y="1819656"/>
            <a:ext cx="5669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9784" y="1947672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4256%</a:t>
            </a:r>
            <a:endParaRPr lang="en-US" sz="770" dirty="0"/>
          </a:p>
        </p:txBody>
      </p:sp>
      <p:sp>
        <p:nvSpPr>
          <p:cNvPr id="42" name="Shape 40"/>
          <p:cNvSpPr/>
          <p:nvPr/>
        </p:nvSpPr>
        <p:spPr>
          <a:xfrm>
            <a:off x="5669280" y="1819656"/>
            <a:ext cx="822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96712" y="19476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cumple</a:t>
            </a:r>
            <a:endParaRPr lang="en-US" sz="770" dirty="0"/>
          </a:p>
        </p:txBody>
      </p:sp>
      <p:sp>
        <p:nvSpPr>
          <p:cNvPr id="44" name="Shape 42"/>
          <p:cNvSpPr/>
          <p:nvPr/>
        </p:nvSpPr>
        <p:spPr>
          <a:xfrm>
            <a:off x="658368" y="2221992"/>
            <a:ext cx="502920" cy="402336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2350008"/>
            <a:ext cx="448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</a:t>
            </a:r>
            <a:endParaRPr lang="en-US" sz="770" dirty="0"/>
          </a:p>
        </p:txBody>
      </p:sp>
      <p:sp>
        <p:nvSpPr>
          <p:cNvPr id="46" name="Shape 44"/>
          <p:cNvSpPr/>
          <p:nvPr/>
        </p:nvSpPr>
        <p:spPr>
          <a:xfrm>
            <a:off x="1161288" y="2221992"/>
            <a:ext cx="621792" cy="402336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88720" y="2350008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70" dirty="0"/>
          </a:p>
        </p:txBody>
      </p:sp>
      <p:sp>
        <p:nvSpPr>
          <p:cNvPr id="48" name="Shape 46"/>
          <p:cNvSpPr/>
          <p:nvPr/>
        </p:nvSpPr>
        <p:spPr>
          <a:xfrm>
            <a:off x="1783080" y="2221992"/>
            <a:ext cx="621792" cy="402336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10512" y="2350008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770" dirty="0"/>
          </a:p>
        </p:txBody>
      </p:sp>
      <p:sp>
        <p:nvSpPr>
          <p:cNvPr id="50" name="Shape 48"/>
          <p:cNvSpPr/>
          <p:nvPr/>
        </p:nvSpPr>
        <p:spPr>
          <a:xfrm>
            <a:off x="2404872" y="2221992"/>
            <a:ext cx="749808" cy="402336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32304" y="235000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770" dirty="0"/>
          </a:p>
        </p:txBody>
      </p:sp>
      <p:sp>
        <p:nvSpPr>
          <p:cNvPr id="52" name="Shape 50"/>
          <p:cNvSpPr/>
          <p:nvPr/>
        </p:nvSpPr>
        <p:spPr>
          <a:xfrm>
            <a:off x="3154680" y="2221992"/>
            <a:ext cx="566928" cy="402336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82112" y="2350008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5.60</a:t>
            </a:r>
            <a:endParaRPr lang="en-US" sz="770" dirty="0"/>
          </a:p>
        </p:txBody>
      </p:sp>
      <p:sp>
        <p:nvSpPr>
          <p:cNvPr id="54" name="Shape 52"/>
          <p:cNvSpPr/>
          <p:nvPr/>
        </p:nvSpPr>
        <p:spPr>
          <a:xfrm>
            <a:off x="3721608" y="2221992"/>
            <a:ext cx="850392" cy="402336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0" y="2350008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46.47 M</a:t>
            </a:r>
            <a:endParaRPr lang="en-US" sz="770" dirty="0"/>
          </a:p>
        </p:txBody>
      </p:sp>
      <p:sp>
        <p:nvSpPr>
          <p:cNvPr id="56" name="Shape 54"/>
          <p:cNvSpPr/>
          <p:nvPr/>
        </p:nvSpPr>
        <p:spPr>
          <a:xfrm>
            <a:off x="4572000" y="2221992"/>
            <a:ext cx="530352" cy="402336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99432" y="2350008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2.40</a:t>
            </a:r>
            <a:endParaRPr lang="en-US" sz="770" dirty="0"/>
          </a:p>
        </p:txBody>
      </p:sp>
      <p:sp>
        <p:nvSpPr>
          <p:cNvPr id="58" name="Shape 56"/>
          <p:cNvSpPr/>
          <p:nvPr/>
        </p:nvSpPr>
        <p:spPr>
          <a:xfrm>
            <a:off x="5102352" y="2221992"/>
            <a:ext cx="566928" cy="402336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29784" y="2350008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99%</a:t>
            </a:r>
            <a:endParaRPr lang="en-US" sz="770" dirty="0"/>
          </a:p>
        </p:txBody>
      </p:sp>
      <p:sp>
        <p:nvSpPr>
          <p:cNvPr id="60" name="Shape 58"/>
          <p:cNvSpPr/>
          <p:nvPr/>
        </p:nvSpPr>
        <p:spPr>
          <a:xfrm>
            <a:off x="5669280" y="2221992"/>
            <a:ext cx="822960" cy="402336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96712" y="23500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limite</a:t>
            </a:r>
            <a:endParaRPr lang="en-US" sz="770" dirty="0"/>
          </a:p>
        </p:txBody>
      </p:sp>
      <p:sp>
        <p:nvSpPr>
          <p:cNvPr id="62" name="Shape 60"/>
          <p:cNvSpPr/>
          <p:nvPr/>
        </p:nvSpPr>
        <p:spPr>
          <a:xfrm>
            <a:off x="658368" y="2624328"/>
            <a:ext cx="502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800" y="2752344"/>
            <a:ext cx="448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A3</a:t>
            </a:r>
            <a:endParaRPr lang="en-US" sz="770" dirty="0"/>
          </a:p>
        </p:txBody>
      </p:sp>
      <p:sp>
        <p:nvSpPr>
          <p:cNvPr id="64" name="Shape 62"/>
          <p:cNvSpPr/>
          <p:nvPr/>
        </p:nvSpPr>
        <p:spPr>
          <a:xfrm>
            <a:off x="1161288" y="2624328"/>
            <a:ext cx="6217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88720" y="275234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70" dirty="0"/>
          </a:p>
        </p:txBody>
      </p:sp>
      <p:sp>
        <p:nvSpPr>
          <p:cNvPr id="66" name="Shape 64"/>
          <p:cNvSpPr/>
          <p:nvPr/>
        </p:nvSpPr>
        <p:spPr>
          <a:xfrm>
            <a:off x="1783080" y="2624328"/>
            <a:ext cx="6217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10512" y="275234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770" dirty="0"/>
          </a:p>
        </p:txBody>
      </p:sp>
      <p:sp>
        <p:nvSpPr>
          <p:cNvPr id="68" name="Shape 66"/>
          <p:cNvSpPr/>
          <p:nvPr/>
        </p:nvSpPr>
        <p:spPr>
          <a:xfrm>
            <a:off x="2404872" y="2624328"/>
            <a:ext cx="7498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432304" y="2752344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770" dirty="0"/>
          </a:p>
        </p:txBody>
      </p:sp>
      <p:sp>
        <p:nvSpPr>
          <p:cNvPr id="70" name="Shape 68"/>
          <p:cNvSpPr/>
          <p:nvPr/>
        </p:nvSpPr>
        <p:spPr>
          <a:xfrm>
            <a:off x="3154680" y="2624328"/>
            <a:ext cx="5669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82112" y="2752344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5.68</a:t>
            </a:r>
            <a:endParaRPr lang="en-US" sz="770" dirty="0"/>
          </a:p>
        </p:txBody>
      </p:sp>
      <p:sp>
        <p:nvSpPr>
          <p:cNvPr id="72" name="Shape 70"/>
          <p:cNvSpPr/>
          <p:nvPr/>
        </p:nvSpPr>
        <p:spPr>
          <a:xfrm>
            <a:off x="3721608" y="2624328"/>
            <a:ext cx="8503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749040" y="2752344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51.02 M</a:t>
            </a:r>
            <a:endParaRPr lang="en-US" sz="770" dirty="0"/>
          </a:p>
        </p:txBody>
      </p:sp>
      <p:sp>
        <p:nvSpPr>
          <p:cNvPr id="74" name="Shape 72"/>
          <p:cNvSpPr/>
          <p:nvPr/>
        </p:nvSpPr>
        <p:spPr>
          <a:xfrm>
            <a:off x="4572000" y="2624328"/>
            <a:ext cx="53035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99432" y="275234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2.55</a:t>
            </a:r>
            <a:endParaRPr lang="en-US" sz="770" dirty="0"/>
          </a:p>
        </p:txBody>
      </p:sp>
      <p:sp>
        <p:nvSpPr>
          <p:cNvPr id="76" name="Shape 74"/>
          <p:cNvSpPr/>
          <p:nvPr/>
        </p:nvSpPr>
        <p:spPr>
          <a:xfrm>
            <a:off x="5102352" y="2624328"/>
            <a:ext cx="5669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29784" y="2752344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</a:t>
            </a:r>
            <a:endParaRPr lang="en-US" sz="770" dirty="0"/>
          </a:p>
        </p:txBody>
      </p:sp>
      <p:sp>
        <p:nvSpPr>
          <p:cNvPr id="78" name="Shape 76"/>
          <p:cNvSpPr/>
          <p:nvPr/>
        </p:nvSpPr>
        <p:spPr>
          <a:xfrm>
            <a:off x="5669280" y="2624328"/>
            <a:ext cx="822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96712" y="2752344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Cumple</a:t>
            </a:r>
            <a:endParaRPr lang="en-US" sz="770" dirty="0"/>
          </a:p>
        </p:txBody>
      </p:sp>
      <p:sp>
        <p:nvSpPr>
          <p:cNvPr id="80" name="Shape 78"/>
          <p:cNvSpPr/>
          <p:nvPr/>
        </p:nvSpPr>
        <p:spPr>
          <a:xfrm>
            <a:off x="658368" y="3026664"/>
            <a:ext cx="502920" cy="402336"/>
          </a:xfrm>
          <a:prstGeom prst="rect">
            <a:avLst/>
          </a:prstGeom>
          <a:solidFill>
            <a:srgbClr val="FFF1E8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85800" y="3154680"/>
            <a:ext cx="448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64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</a:t>
            </a:r>
            <a:endParaRPr lang="en-US" sz="770" dirty="0"/>
          </a:p>
        </p:txBody>
      </p:sp>
      <p:sp>
        <p:nvSpPr>
          <p:cNvPr id="82" name="Shape 80"/>
          <p:cNvSpPr/>
          <p:nvPr/>
        </p:nvSpPr>
        <p:spPr>
          <a:xfrm>
            <a:off x="1161288" y="3026664"/>
            <a:ext cx="621792" cy="402336"/>
          </a:xfrm>
          <a:prstGeom prst="rect">
            <a:avLst/>
          </a:prstGeom>
          <a:solidFill>
            <a:srgbClr val="FFF1E8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188720" y="315468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64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70" dirty="0"/>
          </a:p>
        </p:txBody>
      </p:sp>
      <p:sp>
        <p:nvSpPr>
          <p:cNvPr id="84" name="Shape 82"/>
          <p:cNvSpPr/>
          <p:nvPr/>
        </p:nvSpPr>
        <p:spPr>
          <a:xfrm>
            <a:off x="1783080" y="3026664"/>
            <a:ext cx="621792" cy="402336"/>
          </a:xfrm>
          <a:prstGeom prst="rect">
            <a:avLst/>
          </a:prstGeom>
          <a:solidFill>
            <a:srgbClr val="FFF1E8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810512" y="315468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64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770" dirty="0"/>
          </a:p>
        </p:txBody>
      </p:sp>
      <p:sp>
        <p:nvSpPr>
          <p:cNvPr id="86" name="Shape 84"/>
          <p:cNvSpPr/>
          <p:nvPr/>
        </p:nvSpPr>
        <p:spPr>
          <a:xfrm>
            <a:off x="2404872" y="3026664"/>
            <a:ext cx="749808" cy="402336"/>
          </a:xfrm>
          <a:prstGeom prst="rect">
            <a:avLst/>
          </a:prstGeom>
          <a:solidFill>
            <a:srgbClr val="FFF1E8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432304" y="315468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64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770" dirty="0"/>
          </a:p>
        </p:txBody>
      </p:sp>
      <p:sp>
        <p:nvSpPr>
          <p:cNvPr id="88" name="Shape 86"/>
          <p:cNvSpPr/>
          <p:nvPr/>
        </p:nvSpPr>
        <p:spPr>
          <a:xfrm>
            <a:off x="3154680" y="3026664"/>
            <a:ext cx="566928" cy="402336"/>
          </a:xfrm>
          <a:prstGeom prst="rect">
            <a:avLst/>
          </a:prstGeom>
          <a:solidFill>
            <a:srgbClr val="FFF1E8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82112" y="3154680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64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5.74</a:t>
            </a:r>
            <a:endParaRPr lang="en-US" sz="770" dirty="0"/>
          </a:p>
        </p:txBody>
      </p:sp>
      <p:sp>
        <p:nvSpPr>
          <p:cNvPr id="90" name="Shape 88"/>
          <p:cNvSpPr/>
          <p:nvPr/>
        </p:nvSpPr>
        <p:spPr>
          <a:xfrm>
            <a:off x="3721608" y="3026664"/>
            <a:ext cx="850392" cy="402336"/>
          </a:xfrm>
          <a:prstGeom prst="rect">
            <a:avLst/>
          </a:prstGeom>
          <a:solidFill>
            <a:srgbClr val="FFF1E8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749040" y="3154680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64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55.67 M</a:t>
            </a:r>
            <a:endParaRPr lang="en-US" sz="770" dirty="0"/>
          </a:p>
        </p:txBody>
      </p:sp>
      <p:sp>
        <p:nvSpPr>
          <p:cNvPr id="92" name="Shape 90"/>
          <p:cNvSpPr/>
          <p:nvPr/>
        </p:nvSpPr>
        <p:spPr>
          <a:xfrm>
            <a:off x="4572000" y="3026664"/>
            <a:ext cx="530352" cy="402336"/>
          </a:xfrm>
          <a:prstGeom prst="rect">
            <a:avLst/>
          </a:prstGeom>
          <a:solidFill>
            <a:srgbClr val="FFF1E8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599432" y="315468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64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2.68</a:t>
            </a:r>
            <a:endParaRPr lang="en-US" sz="770" dirty="0"/>
          </a:p>
        </p:txBody>
      </p:sp>
      <p:sp>
        <p:nvSpPr>
          <p:cNvPr id="94" name="Shape 92"/>
          <p:cNvSpPr/>
          <p:nvPr/>
        </p:nvSpPr>
        <p:spPr>
          <a:xfrm>
            <a:off x="5102352" y="3026664"/>
            <a:ext cx="566928" cy="402336"/>
          </a:xfrm>
          <a:prstGeom prst="rect">
            <a:avLst/>
          </a:prstGeom>
          <a:solidFill>
            <a:srgbClr val="FFF1E8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129784" y="3154680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64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83%</a:t>
            </a:r>
            <a:endParaRPr lang="en-US" sz="770" dirty="0"/>
          </a:p>
        </p:txBody>
      </p:sp>
      <p:sp>
        <p:nvSpPr>
          <p:cNvPr id="96" name="Shape 94"/>
          <p:cNvSpPr/>
          <p:nvPr/>
        </p:nvSpPr>
        <p:spPr>
          <a:xfrm>
            <a:off x="5669280" y="3026664"/>
            <a:ext cx="822960" cy="402336"/>
          </a:xfrm>
          <a:prstGeom prst="rect">
            <a:avLst/>
          </a:prstGeom>
          <a:solidFill>
            <a:srgbClr val="FFF1E8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96712" y="315468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640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Cumple</a:t>
            </a:r>
            <a:endParaRPr lang="en-US" sz="770" dirty="0"/>
          </a:p>
        </p:txBody>
      </p:sp>
      <p:sp>
        <p:nvSpPr>
          <p:cNvPr id="98" name="Shape 96"/>
          <p:cNvSpPr/>
          <p:nvPr/>
        </p:nvSpPr>
        <p:spPr>
          <a:xfrm>
            <a:off x="658368" y="3429000"/>
            <a:ext cx="502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85800" y="3557016"/>
            <a:ext cx="448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A5</a:t>
            </a:r>
            <a:endParaRPr lang="en-US" sz="770" dirty="0"/>
          </a:p>
        </p:txBody>
      </p:sp>
      <p:sp>
        <p:nvSpPr>
          <p:cNvPr id="100" name="Shape 98"/>
          <p:cNvSpPr/>
          <p:nvPr/>
        </p:nvSpPr>
        <p:spPr>
          <a:xfrm>
            <a:off x="1161288" y="3429000"/>
            <a:ext cx="6217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188720" y="3557016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70" dirty="0"/>
          </a:p>
        </p:txBody>
      </p:sp>
      <p:sp>
        <p:nvSpPr>
          <p:cNvPr id="102" name="Shape 100"/>
          <p:cNvSpPr/>
          <p:nvPr/>
        </p:nvSpPr>
        <p:spPr>
          <a:xfrm>
            <a:off x="1783080" y="3429000"/>
            <a:ext cx="6217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810512" y="3557016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770" dirty="0"/>
          </a:p>
        </p:txBody>
      </p:sp>
      <p:sp>
        <p:nvSpPr>
          <p:cNvPr id="104" name="Shape 102"/>
          <p:cNvSpPr/>
          <p:nvPr/>
        </p:nvSpPr>
        <p:spPr>
          <a:xfrm>
            <a:off x="2404872" y="3429000"/>
            <a:ext cx="7498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432304" y="355701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770" dirty="0"/>
          </a:p>
        </p:txBody>
      </p:sp>
      <p:sp>
        <p:nvSpPr>
          <p:cNvPr id="106" name="Shape 104"/>
          <p:cNvSpPr/>
          <p:nvPr/>
        </p:nvSpPr>
        <p:spPr>
          <a:xfrm>
            <a:off x="3154680" y="3429000"/>
            <a:ext cx="5669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182112" y="3557016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5.67</a:t>
            </a:r>
            <a:endParaRPr lang="en-US" sz="770" dirty="0"/>
          </a:p>
        </p:txBody>
      </p:sp>
      <p:sp>
        <p:nvSpPr>
          <p:cNvPr id="108" name="Shape 106"/>
          <p:cNvSpPr/>
          <p:nvPr/>
        </p:nvSpPr>
        <p:spPr>
          <a:xfrm>
            <a:off x="3721608" y="3429000"/>
            <a:ext cx="8503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749040" y="3557016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50.88 M</a:t>
            </a:r>
            <a:endParaRPr lang="en-US" sz="770" dirty="0"/>
          </a:p>
        </p:txBody>
      </p:sp>
      <p:sp>
        <p:nvSpPr>
          <p:cNvPr id="110" name="Shape 108"/>
          <p:cNvSpPr/>
          <p:nvPr/>
        </p:nvSpPr>
        <p:spPr>
          <a:xfrm>
            <a:off x="4572000" y="3429000"/>
            <a:ext cx="53035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599432" y="3557016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2.55</a:t>
            </a:r>
            <a:endParaRPr lang="en-US" sz="770" dirty="0"/>
          </a:p>
        </p:txBody>
      </p:sp>
      <p:sp>
        <p:nvSpPr>
          <p:cNvPr id="112" name="Shape 110"/>
          <p:cNvSpPr/>
          <p:nvPr/>
        </p:nvSpPr>
        <p:spPr>
          <a:xfrm>
            <a:off x="5102352" y="3429000"/>
            <a:ext cx="5669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129784" y="3557016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91%</a:t>
            </a:r>
            <a:endParaRPr lang="en-US" sz="770" dirty="0"/>
          </a:p>
        </p:txBody>
      </p:sp>
      <p:sp>
        <p:nvSpPr>
          <p:cNvPr id="114" name="Shape 112"/>
          <p:cNvSpPr/>
          <p:nvPr/>
        </p:nvSpPr>
        <p:spPr>
          <a:xfrm>
            <a:off x="5669280" y="3429000"/>
            <a:ext cx="822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696712" y="3557016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Cumple</a:t>
            </a:r>
            <a:endParaRPr lang="en-US" sz="770" dirty="0"/>
          </a:p>
        </p:txBody>
      </p:sp>
      <p:sp>
        <p:nvSpPr>
          <p:cNvPr id="116" name="Shape 114"/>
          <p:cNvSpPr/>
          <p:nvPr/>
        </p:nvSpPr>
        <p:spPr>
          <a:xfrm>
            <a:off x="658368" y="3831336"/>
            <a:ext cx="502920" cy="402336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85800" y="3959352"/>
            <a:ext cx="448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A6</a:t>
            </a:r>
            <a:endParaRPr lang="en-US" sz="770" dirty="0"/>
          </a:p>
        </p:txBody>
      </p:sp>
      <p:sp>
        <p:nvSpPr>
          <p:cNvPr id="118" name="Shape 116"/>
          <p:cNvSpPr/>
          <p:nvPr/>
        </p:nvSpPr>
        <p:spPr>
          <a:xfrm>
            <a:off x="1161288" y="3831336"/>
            <a:ext cx="621792" cy="402336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188720" y="395935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70" dirty="0"/>
          </a:p>
        </p:txBody>
      </p:sp>
      <p:sp>
        <p:nvSpPr>
          <p:cNvPr id="120" name="Shape 118"/>
          <p:cNvSpPr/>
          <p:nvPr/>
        </p:nvSpPr>
        <p:spPr>
          <a:xfrm>
            <a:off x="1783080" y="3831336"/>
            <a:ext cx="621792" cy="402336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810512" y="395935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770" dirty="0"/>
          </a:p>
        </p:txBody>
      </p:sp>
      <p:sp>
        <p:nvSpPr>
          <p:cNvPr id="122" name="Shape 120"/>
          <p:cNvSpPr/>
          <p:nvPr/>
        </p:nvSpPr>
        <p:spPr>
          <a:xfrm>
            <a:off x="2404872" y="3831336"/>
            <a:ext cx="749808" cy="402336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432304" y="3959352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770" dirty="0"/>
          </a:p>
        </p:txBody>
      </p:sp>
      <p:sp>
        <p:nvSpPr>
          <p:cNvPr id="124" name="Shape 122"/>
          <p:cNvSpPr/>
          <p:nvPr/>
        </p:nvSpPr>
        <p:spPr>
          <a:xfrm>
            <a:off x="3154680" y="3831336"/>
            <a:ext cx="566928" cy="402336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182112" y="3959352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6.15</a:t>
            </a:r>
            <a:endParaRPr lang="en-US" sz="770" dirty="0"/>
          </a:p>
        </p:txBody>
      </p:sp>
      <p:sp>
        <p:nvSpPr>
          <p:cNvPr id="126" name="Shape 124"/>
          <p:cNvSpPr/>
          <p:nvPr/>
        </p:nvSpPr>
        <p:spPr>
          <a:xfrm>
            <a:off x="3721608" y="3831336"/>
            <a:ext cx="850392" cy="402336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749040" y="3959352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92.55 M</a:t>
            </a:r>
            <a:endParaRPr lang="en-US" sz="770" dirty="0"/>
          </a:p>
        </p:txBody>
      </p:sp>
      <p:sp>
        <p:nvSpPr>
          <p:cNvPr id="128" name="Shape 126"/>
          <p:cNvSpPr/>
          <p:nvPr/>
        </p:nvSpPr>
        <p:spPr>
          <a:xfrm>
            <a:off x="4572000" y="3831336"/>
            <a:ext cx="530352" cy="402336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599432" y="3959352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3.21</a:t>
            </a:r>
            <a:endParaRPr lang="en-US" sz="770" dirty="0"/>
          </a:p>
        </p:txBody>
      </p:sp>
      <p:sp>
        <p:nvSpPr>
          <p:cNvPr id="130" name="Shape 128"/>
          <p:cNvSpPr/>
          <p:nvPr/>
        </p:nvSpPr>
        <p:spPr>
          <a:xfrm>
            <a:off x="5102352" y="3831336"/>
            <a:ext cx="566928" cy="402336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129784" y="3959352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sz="770" dirty="0"/>
          </a:p>
        </p:txBody>
      </p:sp>
      <p:sp>
        <p:nvSpPr>
          <p:cNvPr id="132" name="Shape 130"/>
          <p:cNvSpPr/>
          <p:nvPr/>
        </p:nvSpPr>
        <p:spPr>
          <a:xfrm>
            <a:off x="5669280" y="3831336"/>
            <a:ext cx="822960" cy="402336"/>
          </a:xfrm>
          <a:prstGeom prst="rect">
            <a:avLst/>
          </a:prstGeom>
          <a:solidFill>
            <a:srgbClr val="EEF3F5"/>
          </a:solidFill>
          <a:ln w="6350">
            <a:solidFill>
              <a:srgbClr val="D7E0E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696712" y="395935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Cumple</a:t>
            </a:r>
            <a:endParaRPr lang="en-US" sz="770" dirty="0"/>
          </a:p>
        </p:txBody>
      </p:sp>
      <p:sp>
        <p:nvSpPr>
          <p:cNvPr id="134" name="Shape 132"/>
          <p:cNvSpPr/>
          <p:nvPr/>
        </p:nvSpPr>
        <p:spPr>
          <a:xfrm>
            <a:off x="8229600" y="1627632"/>
            <a:ext cx="23317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229600" y="1627632"/>
            <a:ext cx="73152" cy="1024128"/>
          </a:xfrm>
          <a:prstGeom prst="rect">
            <a:avLst/>
          </a:prstGeom>
          <a:solidFill>
            <a:srgbClr val="B64034"/>
          </a:solidFill>
          <a:ln w="12700">
            <a:solidFill>
              <a:srgbClr val="B64034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412480" y="17739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</a:t>
            </a:r>
            <a:endParaRPr lang="en-US" sz="780" dirty="0"/>
          </a:p>
        </p:txBody>
      </p:sp>
      <p:sp>
        <p:nvSpPr>
          <p:cNvPr id="137" name="Text 135"/>
          <p:cNvSpPr/>
          <p:nvPr/>
        </p:nvSpPr>
        <p:spPr>
          <a:xfrm>
            <a:off x="8412480" y="201168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640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A4 8/50/40</a:t>
            </a:r>
            <a:endParaRPr lang="en-US" sz="1800" dirty="0"/>
          </a:p>
        </p:txBody>
      </p:sp>
      <p:sp>
        <p:nvSpPr>
          <p:cNvPr id="138" name="Shape 136"/>
          <p:cNvSpPr/>
          <p:nvPr/>
        </p:nvSpPr>
        <p:spPr>
          <a:xfrm>
            <a:off x="8229600" y="2926080"/>
            <a:ext cx="23317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229600" y="2926080"/>
            <a:ext cx="73152" cy="1024128"/>
          </a:xfrm>
          <a:prstGeom prst="rect">
            <a:avLst/>
          </a:prstGeom>
          <a:solidFill>
            <a:srgbClr val="1E5E7E"/>
          </a:solidFill>
          <a:ln w="12700">
            <a:solidFill>
              <a:srgbClr val="1E5E7E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412480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 ADMISIBLE</a:t>
            </a:r>
            <a:endParaRPr lang="en-US" sz="780" dirty="0"/>
          </a:p>
        </p:txBody>
      </p:sp>
      <p:sp>
        <p:nvSpPr>
          <p:cNvPr id="141" name="Text 139"/>
          <p:cNvSpPr/>
          <p:nvPr/>
        </p:nvSpPr>
        <p:spPr>
          <a:xfrm>
            <a:off x="8412480" y="331012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E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55.67 M</a:t>
            </a:r>
            <a:endParaRPr lang="en-US" sz="1800" dirty="0"/>
          </a:p>
        </p:txBody>
      </p:sp>
      <p:sp>
        <p:nvSpPr>
          <p:cNvPr id="142" name="Text 140"/>
          <p:cNvSpPr/>
          <p:nvPr/>
        </p:nvSpPr>
        <p:spPr>
          <a:xfrm>
            <a:off x="8247888" y="4343400"/>
            <a:ext cx="2423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 cumple minimizando la carpeta asfaltica y compensando con base/subbase.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75488"/>
            <a:ext cx="3108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C4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SELECCIONADA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4297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Alternativa A4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1783080"/>
            <a:ext cx="4572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E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Carpeta minima compensada con capas granulares.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4160520" cy="518465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3197657"/>
            <a:ext cx="31927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53819" y="3197657"/>
            <a:ext cx="31927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20086" y="3197657"/>
            <a:ext cx="31927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86354" y="3197657"/>
            <a:ext cx="31927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52621" y="3197657"/>
            <a:ext cx="31927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965856"/>
            <a:ext cx="266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9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CARPETA ASFALTICA EN CALIENTE</a:t>
            </a:r>
            <a:endParaRPr lang="en-US" sz="969" dirty="0"/>
          </a:p>
        </p:txBody>
      </p:sp>
      <p:sp>
        <p:nvSpPr>
          <p:cNvPr id="13" name="Text 11"/>
          <p:cNvSpPr/>
          <p:nvPr/>
        </p:nvSpPr>
        <p:spPr>
          <a:xfrm>
            <a:off x="4004158" y="2947568"/>
            <a:ext cx="7872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5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cm</a:t>
            </a:r>
            <a:endParaRPr lang="en-US" sz="1355" dirty="0"/>
          </a:p>
        </p:txBody>
      </p:sp>
      <p:sp>
        <p:nvSpPr>
          <p:cNvPr id="14" name="Shape 12"/>
          <p:cNvSpPr/>
          <p:nvPr/>
        </p:nvSpPr>
        <p:spPr>
          <a:xfrm>
            <a:off x="822960" y="3307385"/>
            <a:ext cx="4160520" cy="1228954"/>
          </a:xfrm>
          <a:prstGeom prst="rect">
            <a:avLst/>
          </a:prstGeom>
          <a:solidFill>
            <a:srgbClr val="7A8992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839566"/>
            <a:ext cx="266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9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GRANULAR</a:t>
            </a:r>
            <a:endParaRPr lang="en-US" sz="969" dirty="0"/>
          </a:p>
        </p:txBody>
      </p:sp>
      <p:sp>
        <p:nvSpPr>
          <p:cNvPr id="16" name="Text 14"/>
          <p:cNvSpPr/>
          <p:nvPr/>
        </p:nvSpPr>
        <p:spPr>
          <a:xfrm>
            <a:off x="4004158" y="3821278"/>
            <a:ext cx="7872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5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cm</a:t>
            </a:r>
            <a:endParaRPr lang="en-US" sz="1355" dirty="0"/>
          </a:p>
        </p:txBody>
      </p:sp>
      <p:sp>
        <p:nvSpPr>
          <p:cNvPr id="17" name="Shape 15"/>
          <p:cNvSpPr/>
          <p:nvPr/>
        </p:nvSpPr>
        <p:spPr>
          <a:xfrm>
            <a:off x="822960" y="4536338"/>
            <a:ext cx="4160520" cy="1008126"/>
          </a:xfrm>
          <a:prstGeom prst="rect">
            <a:avLst/>
          </a:prstGeom>
          <a:solidFill>
            <a:srgbClr val="A58A54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958105"/>
            <a:ext cx="266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9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SUBBASE GRANULAR</a:t>
            </a:r>
            <a:endParaRPr lang="en-US" sz="969" dirty="0"/>
          </a:p>
        </p:txBody>
      </p:sp>
      <p:sp>
        <p:nvSpPr>
          <p:cNvPr id="19" name="Text 17"/>
          <p:cNvSpPr/>
          <p:nvPr/>
        </p:nvSpPr>
        <p:spPr>
          <a:xfrm>
            <a:off x="4004158" y="4939817"/>
            <a:ext cx="7872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5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cm</a:t>
            </a:r>
            <a:endParaRPr lang="en-US" sz="1355" dirty="0"/>
          </a:p>
        </p:txBody>
      </p:sp>
      <p:sp>
        <p:nvSpPr>
          <p:cNvPr id="20" name="Shape 18"/>
          <p:cNvSpPr/>
          <p:nvPr/>
        </p:nvSpPr>
        <p:spPr>
          <a:xfrm>
            <a:off x="822960" y="5544464"/>
            <a:ext cx="4160520" cy="556870"/>
          </a:xfrm>
          <a:prstGeom prst="rect">
            <a:avLst/>
          </a:prstGeom>
          <a:solidFill>
            <a:srgbClr val="6A747B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5740603"/>
            <a:ext cx="266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9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SUBRASANTE ASUMIDA CBR 8%</a:t>
            </a:r>
            <a:endParaRPr lang="en-US" sz="969" dirty="0"/>
          </a:p>
        </p:txBody>
      </p:sp>
      <p:sp>
        <p:nvSpPr>
          <p:cNvPr id="22" name="Shape 20"/>
          <p:cNvSpPr/>
          <p:nvPr/>
        </p:nvSpPr>
        <p:spPr>
          <a:xfrm>
            <a:off x="5715000" y="1225296"/>
            <a:ext cx="2057400" cy="1115568"/>
          </a:xfrm>
          <a:prstGeom prst="roundRect">
            <a:avLst>
              <a:gd name="adj" fmla="val 4918"/>
            </a:avLst>
          </a:prstGeom>
          <a:solidFill>
            <a:srgbClr val="20272D"/>
          </a:solidFill>
          <a:ln w="12700">
            <a:solidFill>
              <a:srgbClr val="2027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15000" y="1225296"/>
            <a:ext cx="73152" cy="1115568"/>
          </a:xfrm>
          <a:prstGeom prst="rect">
            <a:avLst/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3716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9D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 APROX.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5897880" y="1609344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5.74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75320" y="1225296"/>
            <a:ext cx="2331720" cy="1115568"/>
          </a:xfrm>
          <a:prstGeom prst="roundRect">
            <a:avLst>
              <a:gd name="adj" fmla="val 4918"/>
            </a:avLst>
          </a:prstGeom>
          <a:solidFill>
            <a:srgbClr val="20272D"/>
          </a:solidFill>
          <a:ln w="12700">
            <a:solidFill>
              <a:srgbClr val="2027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1225296"/>
            <a:ext cx="73152" cy="111556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13716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9D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 ADMISIBLE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8458200" y="1609344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55.67 M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715000" y="2761488"/>
            <a:ext cx="2057400" cy="1115568"/>
          </a:xfrm>
          <a:prstGeom prst="roundRect">
            <a:avLst>
              <a:gd name="adj" fmla="val 4918"/>
            </a:avLst>
          </a:prstGeom>
          <a:solidFill>
            <a:srgbClr val="20272D"/>
          </a:solidFill>
          <a:ln w="12700">
            <a:solidFill>
              <a:srgbClr val="2027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0" y="2761488"/>
            <a:ext cx="73152" cy="1115568"/>
          </a:xfrm>
          <a:prstGeom prst="rect">
            <a:avLst/>
          </a:prstGeom>
          <a:solidFill>
            <a:srgbClr val="1E5E7E"/>
          </a:solidFill>
          <a:ln w="12700">
            <a:solidFill>
              <a:srgbClr val="1E5E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90779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9D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PSI FINAL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5897880" y="3145536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2.68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275320" y="2761488"/>
            <a:ext cx="2331720" cy="1115568"/>
          </a:xfrm>
          <a:prstGeom prst="roundRect">
            <a:avLst>
              <a:gd name="adj" fmla="val 4918"/>
            </a:avLst>
          </a:prstGeom>
          <a:solidFill>
            <a:srgbClr val="20272D"/>
          </a:solidFill>
          <a:ln w="12700">
            <a:solidFill>
              <a:srgbClr val="2027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75320" y="2761488"/>
            <a:ext cx="73152" cy="1115568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58200" y="29077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C9D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VIDA CONSUMIDA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8458200" y="314553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715000" y="4709160"/>
            <a:ext cx="4572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 experimental: 8 cm de carpeta asfaltica + 50 cm de base + 40 cm de subbase.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FINAL DE PAVIMENTOS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Discusion tecnica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D7E0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08760"/>
            <a:ext cx="416052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1673352"/>
            <a:ext cx="1371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77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96696" y="1984248"/>
            <a:ext cx="3566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con ensayos reales de agregados, ligante y compactacion.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40680" y="1508760"/>
            <a:ext cx="416052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0136" y="1673352"/>
            <a:ext cx="1371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77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Subrasante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0136" y="1984248"/>
            <a:ext cx="3566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CBR adoptado es un supuesto para simulacion academica.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081528"/>
            <a:ext cx="416052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3246120"/>
            <a:ext cx="1371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77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96696" y="3557016"/>
            <a:ext cx="3566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Coeficientes y espesores deben ajustarse con metodologia formal.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40680" y="3081528"/>
            <a:ext cx="416052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0136" y="3246120"/>
            <a:ext cx="1371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77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0136" y="3557016"/>
            <a:ext cx="3566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 explica el criterio economico, no reemplaza expediente tecnico.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69080" y="5166360"/>
            <a:ext cx="2423160" cy="310896"/>
          </a:xfrm>
          <a:prstGeom prst="roundRect">
            <a:avLst>
              <a:gd name="adj" fmla="val 14706"/>
            </a:avLst>
          </a:prstGeom>
          <a:solidFill>
            <a:srgbClr val="B64034"/>
          </a:solidFill>
          <a:ln w="12700">
            <a:solidFill>
              <a:srgbClr val="B640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78808" y="52349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academico / experimental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FINAL DE PAVIMENTOS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 y recomendaciones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018520" y="4114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078992"/>
            <a:ext cx="10881360" cy="0"/>
          </a:xfrm>
          <a:prstGeom prst="line">
            <a:avLst/>
          </a:prstGeom>
          <a:noFill/>
          <a:ln w="12700">
            <a:solidFill>
              <a:srgbClr val="D7E0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470916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417320"/>
            <a:ext cx="470916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0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2331720"/>
            <a:ext cx="38404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5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transito real condiciona mezcla y estructura.</a:t>
            </a:r>
            <a:endParaRPr lang="en-US" sz="1150" dirty="0"/>
          </a:p>
          <a:p>
            <a:r>
              <a:rPr lang="en-US" sz="115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E6 registra 91,033 veh/dia.</a:t>
            </a:r>
            <a:endParaRPr lang="en-US" sz="1150" dirty="0"/>
          </a:p>
          <a:p>
            <a:r>
              <a:rPr lang="en-US" sz="115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pesados y ESAL exigen estabilidad y durabilidad.</a:t>
            </a:r>
            <a:endParaRPr lang="en-US" sz="1150" dirty="0"/>
          </a:p>
          <a:p>
            <a:r>
              <a:rPr lang="en-US" sz="115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 cumple reduciendo la carpeta asfaltica al minimo evaluado.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4652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0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Recomendaciones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10528" y="2331720"/>
            <a:ext cx="388620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5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con ensayos reales.</a:t>
            </a:r>
            <a:endParaRPr lang="en-US" sz="1150" dirty="0"/>
          </a:p>
          <a:p>
            <a:r>
              <a:rPr lang="en-US" sz="115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Controlar granulometria, asfalto, temperatura y compactacion.</a:t>
            </a:r>
            <a:endParaRPr lang="en-US" sz="1150" dirty="0"/>
          </a:p>
          <a:p>
            <a:r>
              <a:rPr lang="en-US" sz="115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Justificar A4 por economia: menos mezcla asfaltica y mayor soporte granular.</a:t>
            </a:r>
            <a:endParaRPr lang="en-US" sz="1150" dirty="0"/>
          </a:p>
          <a:p>
            <a:r>
              <a:rPr lang="en-US" sz="1150" dirty="0">
                <a:solidFill>
                  <a:srgbClr val="1720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el simulador como evidencia didactica.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31536" y="2926080"/>
            <a:ext cx="685800" cy="123444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04688" y="3008376"/>
            <a:ext cx="5619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39562" y="3008376"/>
            <a:ext cx="5619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74436" y="3008376"/>
            <a:ext cx="5619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09310" y="3008376"/>
            <a:ext cx="5619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31536" y="3049524"/>
            <a:ext cx="685800" cy="260604"/>
          </a:xfrm>
          <a:prstGeom prst="rect">
            <a:avLst/>
          </a:prstGeom>
          <a:solidFill>
            <a:srgbClr val="7A899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31536" y="3310128"/>
            <a:ext cx="685800" cy="205740"/>
          </a:xfrm>
          <a:prstGeom prst="rect">
            <a:avLst/>
          </a:prstGeom>
          <a:solidFill>
            <a:srgbClr val="A58A5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31536" y="3515868"/>
            <a:ext cx="685800" cy="96012"/>
          </a:xfrm>
          <a:prstGeom prst="rect">
            <a:avLst/>
          </a:prstGeom>
          <a:solidFill>
            <a:srgbClr val="6A747B"/>
          </a:solidFill>
          <a:ln w="12700">
            <a:solidFill>
              <a:srgbClr val="6A747B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325880"/>
            <a:ext cx="4389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86384" y="2331720"/>
            <a:ext cx="548640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6DE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Diseno de mezclas asfalticas en caliente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6DE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Av. Santa Rosa + simulador de pavimentos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3657600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77728"/>
          </a:solidFill>
          <a:ln w="12700">
            <a:solidFill>
              <a:srgbClr val="E777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3726180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06640" y="1417320"/>
            <a:ext cx="3063240" cy="503652"/>
          </a:xfrm>
          <a:prstGeom prst="rect">
            <a:avLst/>
          </a:prstGeom>
          <a:solidFill>
            <a:srgbClr val="151A1E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71232" y="1811244"/>
            <a:ext cx="22783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8043" y="1811244"/>
            <a:ext cx="22783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4854" y="1811244"/>
            <a:ext cx="22783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1666" y="1811244"/>
            <a:ext cx="22783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58477" y="1811244"/>
            <a:ext cx="227838" cy="54864"/>
          </a:xfrm>
          <a:prstGeom prst="rect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71232" y="1586850"/>
            <a:ext cx="19604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CARPETA ASFALTICA EN CALIENTE</a:t>
            </a:r>
            <a:endParaRPr lang="en-US" sz="946" dirty="0"/>
          </a:p>
        </p:txBody>
      </p:sp>
      <p:sp>
        <p:nvSpPr>
          <p:cNvPr id="14" name="Text 12"/>
          <p:cNvSpPr/>
          <p:nvPr/>
        </p:nvSpPr>
        <p:spPr>
          <a:xfrm>
            <a:off x="9518538" y="1568562"/>
            <a:ext cx="7648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22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cm</a:t>
            </a:r>
            <a:endParaRPr lang="en-US" sz="1322" dirty="0"/>
          </a:p>
        </p:txBody>
      </p:sp>
      <p:sp>
        <p:nvSpPr>
          <p:cNvPr id="15" name="Shape 13"/>
          <p:cNvSpPr/>
          <p:nvPr/>
        </p:nvSpPr>
        <p:spPr>
          <a:xfrm>
            <a:off x="7406640" y="1920972"/>
            <a:ext cx="3063240" cy="1193841"/>
          </a:xfrm>
          <a:prstGeom prst="rect">
            <a:avLst/>
          </a:prstGeom>
          <a:solidFill>
            <a:srgbClr val="7A8992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71232" y="2435596"/>
            <a:ext cx="19604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GRANULAR</a:t>
            </a:r>
            <a:endParaRPr lang="en-US" sz="946" dirty="0"/>
          </a:p>
        </p:txBody>
      </p:sp>
      <p:sp>
        <p:nvSpPr>
          <p:cNvPr id="17" name="Text 15"/>
          <p:cNvSpPr/>
          <p:nvPr/>
        </p:nvSpPr>
        <p:spPr>
          <a:xfrm>
            <a:off x="9518538" y="2417308"/>
            <a:ext cx="7648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22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cm</a:t>
            </a:r>
            <a:endParaRPr lang="en-US" sz="1322" dirty="0"/>
          </a:p>
        </p:txBody>
      </p:sp>
      <p:sp>
        <p:nvSpPr>
          <p:cNvPr id="18" name="Shape 16"/>
          <p:cNvSpPr/>
          <p:nvPr/>
        </p:nvSpPr>
        <p:spPr>
          <a:xfrm>
            <a:off x="7406640" y="3114812"/>
            <a:ext cx="3063240" cy="979322"/>
          </a:xfrm>
          <a:prstGeom prst="rect">
            <a:avLst/>
          </a:prstGeom>
          <a:solidFill>
            <a:srgbClr val="A58A54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1232" y="3522177"/>
            <a:ext cx="19604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SUBBASE GRANULAR</a:t>
            </a:r>
            <a:endParaRPr lang="en-US" sz="946" dirty="0"/>
          </a:p>
        </p:txBody>
      </p:sp>
      <p:sp>
        <p:nvSpPr>
          <p:cNvPr id="20" name="Text 18"/>
          <p:cNvSpPr/>
          <p:nvPr/>
        </p:nvSpPr>
        <p:spPr>
          <a:xfrm>
            <a:off x="9518538" y="3503889"/>
            <a:ext cx="7648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22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cm</a:t>
            </a:r>
            <a:endParaRPr lang="en-US" sz="1322" dirty="0"/>
          </a:p>
        </p:txBody>
      </p:sp>
      <p:sp>
        <p:nvSpPr>
          <p:cNvPr id="21" name="Shape 19"/>
          <p:cNvSpPr/>
          <p:nvPr/>
        </p:nvSpPr>
        <p:spPr>
          <a:xfrm>
            <a:off x="7406640" y="4094135"/>
            <a:ext cx="3063240" cy="540959"/>
          </a:xfrm>
          <a:prstGeom prst="rect">
            <a:avLst/>
          </a:prstGeom>
          <a:solidFill>
            <a:srgbClr val="6A747B"/>
          </a:solidFill>
          <a:ln w="12700">
            <a:solidFill>
              <a:srgbClr val="151A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71232" y="4282318"/>
            <a:ext cx="19604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SUBRASANTE ASUMIDA CBR 8%</a:t>
            </a:r>
            <a:endParaRPr lang="en-US" sz="946" dirty="0"/>
          </a:p>
        </p:txBody>
      </p:sp>
      <p:sp>
        <p:nvSpPr>
          <p:cNvPr id="23" name="Text 21"/>
          <p:cNvSpPr/>
          <p:nvPr/>
        </p:nvSpPr>
        <p:spPr>
          <a:xfrm>
            <a:off x="7150608" y="4892040"/>
            <a:ext cx="3749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 experimental: 8 cm carpeta + 50 cm base + 40 cm subbase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Curso de Pavimentos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Trabajo final - Mezclas asfalticas en caliente</dc:title>
  <dc:subject>Diseno de mezclas asfalticas en caliente</dc:subject>
  <dc:creator>Codex</dc:creator>
  <cp:lastModifiedBy>Codex</cp:lastModifiedBy>
  <cp:revision>1</cp:revision>
  <dcterms:created xsi:type="dcterms:W3CDTF">2026-05-08T22:15:26Z</dcterms:created>
  <dcterms:modified xsi:type="dcterms:W3CDTF">2026-05-08T22:15:26Z</dcterms:modified>
</cp:coreProperties>
</file>